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3716000" cx="2438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" Target="slides/slide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ca7420409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ca7420409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daa2fc5ec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daa2fc5ec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Whit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" showMasterSp="0">
  <p:cSld name="Gree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" showMasterSp="0">
  <p:cSld name="Black">
    <p:bg>
      <p:bgPr>
        <a:solidFill>
          <a:srgbClr val="00000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8" name="Google Shape;1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rgbClr val="00E8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Blank" showMasterSp="0">
  <p:cSld name="Green 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 Blank" showMasterSp="0">
  <p:cSld name="Black Blank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 showMasterSp="0">
  <p:cSld name="Divid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7" name="Google Shape;2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"/>
          <p:cNvSpPr txBox="1"/>
          <p:nvPr>
            <p:ph idx="1" type="body"/>
          </p:nvPr>
        </p:nvSpPr>
        <p:spPr>
          <a:xfrm rot="-5400000">
            <a:off x="-1334228" y="7632646"/>
            <a:ext cx="4031060" cy="547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sz="24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full" showMasterSp="0">
  <p:cSld name="Image full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/>
          <p:nvPr>
            <p:ph idx="2" type="pic"/>
          </p:nvPr>
        </p:nvSpPr>
        <p:spPr>
          <a:xfrm>
            <a:off x="-108050" y="-1613004"/>
            <a:ext cx="24600100" cy="16395966"/>
          </a:xfrm>
          <a:prstGeom prst="rect">
            <a:avLst/>
          </a:prstGeom>
          <a:noFill/>
          <a:ln>
            <a:noFill/>
          </a:ln>
        </p:spPr>
      </p:sp>
      <p:pic>
        <p:nvPicPr>
          <p:cNvPr descr="Image" id="32" name="Google Shape;3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08755" y="502853"/>
            <a:ext cx="872199" cy="76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sz="2400" cap="none"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3" type="body"/>
          </p:nvPr>
        </p:nvSpPr>
        <p:spPr>
          <a:xfrm rot="-5400000">
            <a:off x="-1334228" y="7632646"/>
            <a:ext cx="4031060" cy="547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sz="2400" cap="none"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4" type="body"/>
          </p:nvPr>
        </p:nvSpPr>
        <p:spPr>
          <a:xfrm rot="-5400000">
            <a:off x="-987925" y="2922941"/>
            <a:ext cx="3338454" cy="547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sz="2400" cap="none"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sz="2000" cap="non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E88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faculdade-preto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70359" y="515849"/>
            <a:ext cx="3227113" cy="6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 rot="-5400000">
            <a:off x="-1685793" y="2683019"/>
            <a:ext cx="4861190" cy="547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76250" lvl="0" marL="4572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76250" lvl="1" marL="9144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76250" lvl="2" marL="13716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76250" lvl="3" marL="18288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76250" lvl="4" marL="22860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76250" lvl="5" marL="27432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76250" lvl="6" marL="32004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76250" lvl="7" marL="36576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76250" lvl="8" marL="4114800" marR="0" rtl="0" algn="l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Helvetica Neue"/>
              <a:buChar char="•"/>
              <a:defRPr b="1" i="0" sz="5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23515902" y="12755562"/>
            <a:ext cx="291847" cy="381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E8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faculdade-preto.png" id="41" name="Google Shape;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359" y="515849"/>
            <a:ext cx="3227113" cy="65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" name="Google Shape;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95492" y="485354"/>
            <a:ext cx="12381882" cy="1274529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 txBox="1"/>
          <p:nvPr/>
        </p:nvSpPr>
        <p:spPr>
          <a:xfrm>
            <a:off x="1247699" y="4532845"/>
            <a:ext cx="21888600" cy="4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2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0"/>
              <a:buFont typeface="Impact"/>
              <a:buNone/>
            </a:pPr>
            <a:r>
              <a:rPr lang="en-US" sz="15700">
                <a:latin typeface="Impact"/>
                <a:ea typeface="Impact"/>
                <a:cs typeface="Impact"/>
                <a:sym typeface="Impact"/>
              </a:rPr>
              <a:t>Desempenho Acadêmico com Base em Dados</a:t>
            </a:r>
            <a:endParaRPr sz="15100"/>
          </a:p>
        </p:txBody>
      </p:sp>
      <p:sp>
        <p:nvSpPr>
          <p:cNvPr id="44" name="Google Shape;44;p11"/>
          <p:cNvSpPr txBox="1"/>
          <p:nvPr/>
        </p:nvSpPr>
        <p:spPr>
          <a:xfrm>
            <a:off x="772904" y="11712834"/>
            <a:ext cx="7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Jéssyca Ribeiro Martins</a:t>
            </a:r>
            <a:endParaRPr/>
          </a:p>
        </p:txBody>
      </p:sp>
      <p:sp>
        <p:nvSpPr>
          <p:cNvPr id="45" name="Google Shape;45;p11"/>
          <p:cNvSpPr txBox="1"/>
          <p:nvPr/>
        </p:nvSpPr>
        <p:spPr>
          <a:xfrm>
            <a:off x="772904" y="12267456"/>
            <a:ext cx="92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/>
              <a:t>Pós-Graduação em Análise de Dados</a:t>
            </a:r>
            <a:endParaRPr/>
          </a:p>
        </p:txBody>
      </p:sp>
      <p:sp>
        <p:nvSpPr>
          <p:cNvPr id="46" name="Google Shape;46;p11"/>
          <p:cNvSpPr txBox="1"/>
          <p:nvPr/>
        </p:nvSpPr>
        <p:spPr>
          <a:xfrm>
            <a:off x="772904" y="10853412"/>
            <a:ext cx="7805789" cy="456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Pitch | Avaliação do módulo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1" name="Google Shape;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/>
        </p:nvSpPr>
        <p:spPr>
          <a:xfrm>
            <a:off x="2494421" y="1432887"/>
            <a:ext cx="9139880" cy="154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O PROBLEMA</a:t>
            </a:r>
            <a:endParaRPr/>
          </a:p>
        </p:txBody>
      </p:sp>
      <p:sp>
        <p:nvSpPr>
          <p:cNvPr id="53" name="Google Shape;53;p12"/>
          <p:cNvSpPr txBox="1"/>
          <p:nvPr/>
        </p:nvSpPr>
        <p:spPr>
          <a:xfrm>
            <a:off x="2506306" y="3501067"/>
            <a:ext cx="9139800" cy="8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12121"/>
                </a:solidFill>
              </a:rPr>
              <a:t>Instituições de ensino coletam dados acadêmicos, mas não conseguem transformá-los em decisões estratégicas. </a:t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212121"/>
                </a:solidFill>
              </a:rPr>
              <a:t>Como consequência: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As notas são analisadas de forma isolada;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Alunos em risco não são identificados a tempo;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As intervenções acontecem de maneira tardia;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Decisões pedagógicas acabam sendo baseadas mais em percepção do que em evidências.</a:t>
            </a:r>
            <a:endParaRPr sz="4000">
              <a:solidFill>
                <a:srgbClr val="212121"/>
              </a:solidFill>
            </a:endParaRPr>
          </a:p>
        </p:txBody>
      </p:sp>
      <p:pic>
        <p:nvPicPr>
          <p:cNvPr id="54" name="Google Shape;54;p12" title="young-woman-home-kitchen-white-hoodie-with-laptop-graph-screen.jpg"/>
          <p:cNvPicPr preferRelativeResize="0"/>
          <p:nvPr/>
        </p:nvPicPr>
        <p:blipFill rotWithShape="1">
          <a:blip r:embed="rId4">
            <a:alphaModFix/>
          </a:blip>
          <a:srcRect b="1050" l="21055" r="28958" t="-1050"/>
          <a:stretch/>
        </p:blipFill>
        <p:spPr>
          <a:xfrm>
            <a:off x="14153007" y="7627"/>
            <a:ext cx="10287002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/>
        </p:nvSpPr>
        <p:spPr>
          <a:xfrm rot="-5400000">
            <a:off x="-2749975" y="6216975"/>
            <a:ext cx="6862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61" name="Google Shape;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2494421" y="1432887"/>
            <a:ext cx="9163650" cy="154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PÚBLICO-ALVO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506306" y="3501068"/>
            <a:ext cx="91398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Gestores educacionais;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Coordenadores pedagógicos;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Professores;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Instituições de ensino.</a:t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212121"/>
              </a:solidFill>
            </a:endParaRPr>
          </a:p>
        </p:txBody>
      </p:sp>
      <p:pic>
        <p:nvPicPr>
          <p:cNvPr id="64" name="Google Shape;64;p13" title="close-up-people-studying-together.jpg"/>
          <p:cNvPicPr preferRelativeResize="0"/>
          <p:nvPr/>
        </p:nvPicPr>
        <p:blipFill rotWithShape="1">
          <a:blip r:embed="rId4">
            <a:alphaModFix/>
          </a:blip>
          <a:srcRect b="0" l="24987" r="24987" t="0"/>
          <a:stretch/>
        </p:blipFill>
        <p:spPr>
          <a:xfrm>
            <a:off x="14153007" y="7627"/>
            <a:ext cx="10287002" cy="1371600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 rot="-5400000">
            <a:off x="-2749975" y="6216982"/>
            <a:ext cx="6862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494421" y="1432887"/>
            <a:ext cx="19371387" cy="154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PROPOSTA DE SOLUÇÃO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2506300" y="4234625"/>
            <a:ext cx="19371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212121"/>
                </a:solidFill>
              </a:rPr>
              <a:t>Desenvolvimento de um dashboard em Power BI para análise do desempenho acadêmico, com estruturação de dados em indicadores visuais e KPIs estratégicos. </a:t>
            </a:r>
            <a:endParaRPr sz="40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rgbClr val="21212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212121"/>
                </a:solidFill>
              </a:rPr>
              <a:t>A solução permite monitorar a evolução das notas ao longo do período letivo, analisar a distribuição do desempenho e identificar fatores acadêmicos e comportamentais associados à nota final, apoiando decisões pedagógicas orientadas por dados.</a:t>
            </a:r>
            <a:endParaRPr sz="4000">
              <a:solidFill>
                <a:srgbClr val="212121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 rot="-5400000">
            <a:off x="-2129275" y="5907075"/>
            <a:ext cx="655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2494421" y="1432887"/>
            <a:ext cx="9139880" cy="2943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SOLUÇÃO NA PRÁTICA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2506306" y="4719635"/>
            <a:ext cx="9139800" cy="7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Organização e limpeza dos dados usando Python através do aplicativo Jupyter;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Monitoramento da evolução das médias;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Identificação de padrões na distribuição das notas;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Avaliação da relação entre faltas, tempo de estudo e desempenho final;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Identificação de variáveis associadas a maior risco acadêmico.</a:t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212121"/>
              </a:solidFill>
            </a:endParaRPr>
          </a:p>
        </p:txBody>
      </p:sp>
      <p:pic>
        <p:nvPicPr>
          <p:cNvPr id="82" name="Google Shape;82;p15" title="Captura de tela 2026-03-03 135436.png"/>
          <p:cNvPicPr preferRelativeResize="0"/>
          <p:nvPr/>
        </p:nvPicPr>
        <p:blipFill rotWithShape="1">
          <a:blip r:embed="rId4">
            <a:alphaModFix/>
          </a:blip>
          <a:srcRect b="4637" l="0" r="0" t="4628"/>
          <a:stretch/>
        </p:blipFill>
        <p:spPr>
          <a:xfrm>
            <a:off x="14153007" y="7627"/>
            <a:ext cx="10287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 rot="-5400000">
            <a:off x="-3120325" y="5846624"/>
            <a:ext cx="760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2494421" y="1432887"/>
            <a:ext cx="10955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lang="en-US" sz="10000">
                <a:latin typeface="Impact"/>
                <a:ea typeface="Impact"/>
                <a:cs typeface="Impact"/>
                <a:sym typeface="Impact"/>
              </a:rPr>
              <a:t>Impacto e Diferencial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2494431" y="4576368"/>
            <a:ext cx="9139800" cy="7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212121"/>
                </a:solidFill>
              </a:rPr>
              <a:t>Impacto para o público: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Identificação precoce de alunos em risco;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Decisões pedagógicas baseadas em evidências;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Redução de reprovação e evasão.</a:t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212121"/>
                </a:solidFill>
              </a:rPr>
              <a:t>Diferencial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Integra análise estatística e visualização estratégica;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Foco em evolução e fatores de impacto, não apenas média final.</a:t>
            </a:r>
            <a:endParaRPr sz="4000">
              <a:solidFill>
                <a:srgbClr val="212121"/>
              </a:solidFill>
            </a:endParaRPr>
          </a:p>
        </p:txBody>
      </p:sp>
      <p:pic>
        <p:nvPicPr>
          <p:cNvPr id="92" name="Google Shape;92;p16" title="Captura de tela 2026-03-03 145443.png"/>
          <p:cNvPicPr preferRelativeResize="0"/>
          <p:nvPr/>
        </p:nvPicPr>
        <p:blipFill rotWithShape="1">
          <a:blip r:embed="rId4">
            <a:alphaModFix/>
          </a:blip>
          <a:srcRect b="0" l="1009" r="1009" t="0"/>
          <a:stretch/>
        </p:blipFill>
        <p:spPr>
          <a:xfrm>
            <a:off x="14153007" y="7627"/>
            <a:ext cx="10287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 rot="-5400000">
            <a:off x="-2511025" y="6455931"/>
            <a:ext cx="6384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2494421" y="1432887"/>
            <a:ext cx="10955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lang="en-US" sz="10000">
                <a:latin typeface="Impact"/>
                <a:ea typeface="Impact"/>
                <a:cs typeface="Impact"/>
                <a:sym typeface="Impact"/>
              </a:rPr>
              <a:t>Potencial &amp; Mercado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2494431" y="4337418"/>
            <a:ext cx="91398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Aplicável a escolas públicas e privadas;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Possibilidade de modelo SaaS para redes de ensino;</a:t>
            </a:r>
            <a:endParaRPr sz="4000">
              <a:solidFill>
                <a:srgbClr val="212121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Char char="●"/>
            </a:pPr>
            <a:r>
              <a:rPr lang="en-US" sz="4000">
                <a:solidFill>
                  <a:srgbClr val="212121"/>
                </a:solidFill>
              </a:rPr>
              <a:t>Expansão para análise preditiva e acompanhamento contínuo.</a:t>
            </a:r>
            <a:endParaRPr sz="40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212121"/>
              </a:solidFill>
            </a:endParaRPr>
          </a:p>
        </p:txBody>
      </p:sp>
      <p:pic>
        <p:nvPicPr>
          <p:cNvPr id="101" name="Google Shape;101;p17" title="Captura de tela 2026-02-09 220609.png"/>
          <p:cNvPicPr preferRelativeResize="0"/>
          <p:nvPr/>
        </p:nvPicPr>
        <p:blipFill rotWithShape="1">
          <a:blip r:embed="rId3">
            <a:alphaModFix/>
          </a:blip>
          <a:srcRect b="0" l="25192" r="31950" t="0"/>
          <a:stretch/>
        </p:blipFill>
        <p:spPr>
          <a:xfrm>
            <a:off x="14153007" y="7627"/>
            <a:ext cx="10287001" cy="1371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 rot="-5400000">
            <a:off x="-2785825" y="6181124"/>
            <a:ext cx="6934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12121"/>
                </a:solidFill>
              </a:rPr>
              <a:t>Desempenho Acadêmico com Base em Dados</a:t>
            </a:r>
            <a:endParaRPr sz="24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2494421" y="1432887"/>
            <a:ext cx="10955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9E597"/>
              </a:buClr>
              <a:buSzPts val="10000"/>
              <a:buFont typeface="Impact"/>
              <a:buNone/>
            </a:pPr>
            <a:r>
              <a:rPr lang="en-US" sz="10000">
                <a:solidFill>
                  <a:srgbClr val="69E597"/>
                </a:solidFill>
                <a:latin typeface="Impact"/>
                <a:ea typeface="Impact"/>
                <a:cs typeface="Impact"/>
                <a:sym typeface="Impact"/>
              </a:rPr>
              <a:t>Síntese do Projeto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2506306" y="3501068"/>
            <a:ext cx="9139800" cy="7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●"/>
            </a:pPr>
            <a:r>
              <a:rPr lang="en-US" sz="4000">
                <a:solidFill>
                  <a:srgbClr val="FFFFFF"/>
                </a:solidFill>
              </a:rPr>
              <a:t>Estruturação e tratamento da base de dados educacional;</a:t>
            </a:r>
            <a:endParaRPr sz="4000">
              <a:solidFill>
                <a:srgbClr val="FFFFFF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●"/>
            </a:pPr>
            <a:r>
              <a:rPr lang="en-US" sz="4000">
                <a:solidFill>
                  <a:srgbClr val="FFFFFF"/>
                </a:solidFill>
              </a:rPr>
              <a:t>Construção de KPIs e métricas de desempenho;</a:t>
            </a:r>
            <a:endParaRPr sz="4000">
              <a:solidFill>
                <a:srgbClr val="FFFFFF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●"/>
            </a:pPr>
            <a:r>
              <a:rPr lang="en-US" sz="4000">
                <a:solidFill>
                  <a:srgbClr val="FFFFFF"/>
                </a:solidFill>
              </a:rPr>
              <a:t>Análise da evolução das notas (</a:t>
            </a:r>
            <a:r>
              <a:rPr lang="en-US" sz="4000">
                <a:solidFill>
                  <a:srgbClr val="FFFFFF"/>
                </a:solidFill>
              </a:rPr>
              <a:t>1ª Avaliação</a:t>
            </a:r>
            <a:r>
              <a:rPr lang="en-US" sz="4000">
                <a:solidFill>
                  <a:srgbClr val="FFFFFF"/>
                </a:solidFill>
              </a:rPr>
              <a:t>, 2ª Avaliação e 3ª Avaliação);</a:t>
            </a:r>
            <a:endParaRPr sz="4000">
              <a:solidFill>
                <a:srgbClr val="FFFFFF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●"/>
            </a:pPr>
            <a:r>
              <a:rPr lang="en-US" sz="4000">
                <a:solidFill>
                  <a:srgbClr val="FFFFFF"/>
                </a:solidFill>
              </a:rPr>
              <a:t>Investigação de fatores associados ao desempenho;</a:t>
            </a:r>
            <a:endParaRPr sz="4000">
              <a:solidFill>
                <a:srgbClr val="FFFFFF"/>
              </a:solidFill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Char char="●"/>
            </a:pPr>
            <a:r>
              <a:rPr lang="en-US" sz="4000">
                <a:solidFill>
                  <a:srgbClr val="FFFFFF"/>
                </a:solidFill>
              </a:rPr>
              <a:t>Desenvolvimento de dashboard interativo em Power BI.</a:t>
            </a:r>
            <a:endParaRPr sz="4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111" name="Google Shape;111;p18" title="Captura de tela 2026-03-06 172215.png"/>
          <p:cNvPicPr preferRelativeResize="0"/>
          <p:nvPr/>
        </p:nvPicPr>
        <p:blipFill rotWithShape="1">
          <a:blip r:embed="rId4">
            <a:alphaModFix/>
          </a:blip>
          <a:srcRect b="0" l="0" r="2449" t="2563"/>
          <a:stretch/>
        </p:blipFill>
        <p:spPr>
          <a:xfrm>
            <a:off x="13887600" y="7625"/>
            <a:ext cx="105524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7133706" y="8945403"/>
            <a:ext cx="4325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 rot="-5400000">
            <a:off x="-2797675" y="6169282"/>
            <a:ext cx="69579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494421" y="1432887"/>
            <a:ext cx="19371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lang="en-US" sz="10000">
                <a:latin typeface="Impact"/>
                <a:ea typeface="Impact"/>
                <a:cs typeface="Impact"/>
                <a:sym typeface="Impact"/>
              </a:rPr>
              <a:t>Análise de Dados usando Python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 rot="-5400000">
            <a:off x="-2129275" y="5907075"/>
            <a:ext cx="655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  <p:pic>
        <p:nvPicPr>
          <p:cNvPr id="121" name="Google Shape;121;p19" title="Captura de tela 2026-03-06 172454.png"/>
          <p:cNvPicPr preferRelativeResize="0"/>
          <p:nvPr/>
        </p:nvPicPr>
        <p:blipFill rotWithShape="1">
          <a:blip r:embed="rId4">
            <a:alphaModFix/>
          </a:blip>
          <a:srcRect b="19355" l="0" r="0" t="0"/>
          <a:stretch/>
        </p:blipFill>
        <p:spPr>
          <a:xfrm>
            <a:off x="1129675" y="3483900"/>
            <a:ext cx="11115676" cy="894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title="Captura de tela 2026-03-06 172519.png"/>
          <p:cNvPicPr preferRelativeResize="0"/>
          <p:nvPr/>
        </p:nvPicPr>
        <p:blipFill rotWithShape="1">
          <a:blip r:embed="rId5">
            <a:alphaModFix/>
          </a:blip>
          <a:srcRect b="39299" l="0" r="0" t="921"/>
          <a:stretch/>
        </p:blipFill>
        <p:spPr>
          <a:xfrm>
            <a:off x="12632425" y="3483900"/>
            <a:ext cx="11115674" cy="908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06" y="12565030"/>
            <a:ext cx="673393" cy="7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2494421" y="1432887"/>
            <a:ext cx="19371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Impact"/>
              <a:buNone/>
            </a:pPr>
            <a:r>
              <a:rPr lang="en-US" sz="10000">
                <a:latin typeface="Impact"/>
                <a:ea typeface="Impact"/>
                <a:cs typeface="Impact"/>
                <a:sym typeface="Impact"/>
              </a:rPr>
              <a:t>Visualização Estratégica no Power BI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 rot="-5400000">
            <a:off x="-2129275" y="5907075"/>
            <a:ext cx="655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E88F"/>
                </a:solidFill>
              </a:rPr>
              <a:t>Desempenho Acadêmico com Base em Dados</a:t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88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E88F"/>
              </a:solidFill>
            </a:endParaRPr>
          </a:p>
        </p:txBody>
      </p:sp>
      <p:pic>
        <p:nvPicPr>
          <p:cNvPr id="130" name="Google Shape;130;p20" title="Captura de tela 2026-03-06 1720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25" y="3483900"/>
            <a:ext cx="11327075" cy="62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 title="Captura de tela 2026-03-06 172107.png"/>
          <p:cNvPicPr preferRelativeResize="0"/>
          <p:nvPr/>
        </p:nvPicPr>
        <p:blipFill rotWithShape="1">
          <a:blip r:embed="rId5">
            <a:alphaModFix/>
          </a:blip>
          <a:srcRect b="0" l="88" r="1901" t="0"/>
          <a:stretch/>
        </p:blipFill>
        <p:spPr>
          <a:xfrm>
            <a:off x="12421025" y="3483900"/>
            <a:ext cx="11327074" cy="65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faculdade-preto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9787" y="5475317"/>
            <a:ext cx="8484427" cy="1720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0000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